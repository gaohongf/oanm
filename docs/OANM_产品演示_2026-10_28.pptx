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开场从 OANM 的登录入口进入。深空背景和实时粒子字标建立品牌第一印象，然后自然过渡到登录后的工作台。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这一页先给全貌：看全局、提得快、管得住，也能查知识、下软件。三张图分别对应概览、智能提单和用户与权限管理，它们不是三个孤立工具，而是从发现到关闭的一条链路；后面还会展开软件下载与知识库。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左边是粒子字标的静止状态，右边是鼠标靠近后的局部散开。这里不是视频，而是 Canvas 实时渲染；鼠标离开后粒子通过弹簧回位。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概览页承担每天的第一判断：状态、四个核心指标、趋势和状态分布都在首屏；底部的最近动态和快捷入口把“看见”接到“处理”。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工单页强调可操作性：当前状态、优先级、受理人一屏可扫；操作按钮按权限出现；详情抽屉里保留 AI 会话、原始描述和解决建议，方便交接和复盘。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用户只说“我打印机坏了，怎么办”，AI 没有直接甩出工单表单，而是先分成多条气泡：先回应“不要着急”，再把知识库里常见的打印机故障收敛成三个选项。用户可以点选，也可以像下一位用户那样，直接用自己的话补充“好像是纸卡里面”。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第二位用户没有点选项，而是自由输入“好像是纸卡里面”。AI 仍然识别出卡纸意图，从知识库里取出断电、顺着走纸方向取纸、别碰定影器、反复卡纸找维修等步骤。回答末尾给出两个出口：已经解决了，或还没解决、帮我提工单。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用户选择“还没解决，帮我提工单”，AI 没有立刻生成工单，而是先补齐地点和时间；回答“东楼三楼经理室，刚刚卡纸的”后，给出四个候选：上门取纸 78%、排查反复卡纸 62%、检测硬件并判断送修 45%、调配备用打印设备 30%。确认权仍在用户手里。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消息中心把工单流转中的关键变化汇总起来：支持未读和已读筛选，也能一键全部已读。顶栏铃铛、消息列表和概览里的未读数保持同一份状态。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软件下载是面向员工的自助入口：常用软件、打印机驱动和办公工具放在同一页，可以按分类、平台和关键词筛选；列表中直接下载最新版，详情里可选择历史版本。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管理端把分类、软件和版本维护放在一起：可以新建软件、上传版本、编辑说明，也可以启停或删除；下载页只展示启用中的内容，下载计数则反馈真实使用情况。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知识库把现场经验做成了一架书：封面只保留分类、标题和更新时间，先挑书再读内容；分类、关键词和最近更新排序都在同一页完成。语义检索不是问答，它是在关键词之外补充相近表达，帮助找到相关文章，不负责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文章预览把知识从“列表项”变成可判断的内容：分类、更新时间、浏览数和摘要都在抬头，标签帮助判断适用场景，阅读全文保留完整正文与参考来源。演示时可以打开 NTFS 权限这篇文章，说明它既能在书架被找到，也能在抽屉里被快速读懂。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权限模块把用户、角色、权限、菜单和路由串成一条授权链。菜单由后端按权限下发，前端不在两个地方重复判权；没有授权的用户会看到明确说明，而不是白屏。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移动端不是简单缩放：登录页重排为字标、表单的纵向结构；概览卡片单列，侧栏收起。两端的核心动作和信息层级保持一致。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最后用一句话收束：清晰不是装饰，而是运维效率的一部分。OANM 的目标是让看全局、提单、处理、协同、治理和查知识都沿着同一条清晰的链路发生。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ver-log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4944" y="431596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">
                <a:solidFill>
                  <a:srgbClr val="9EC5FF"/>
                </a:solidFill>
                <a:latin typeface="Segoe UI" panose="020B0502040204020203"/>
                <a:ea typeface="Segoe UI" panose="020B0502040204020203"/>
              </a:rPr>
              <a:t>PRODUCT WALKTHROUGH / 2026</a:t>
            </a:r>
            <a:endParaRPr sz="820" b="1" i="0" spc="12">
              <a:solidFill>
                <a:srgbClr val="9EC5FF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4590288"/>
            <a:ext cx="6766560" cy="1298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把运维工作，</a:t>
            </a:r>
            <a:endParaRPr sz="3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收进一个工作台</a:t>
            </a:r>
            <a:endParaRPr sz="3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94944" y="5989320"/>
            <a:ext cx="749808" cy="0"/>
          </a:xfrm>
          <a:prstGeom prst="line">
            <a:avLst/>
          </a:prstGeom>
          <a:ln w="25400">
            <a:solidFill>
              <a:srgbClr val="9EC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4944" y="6108192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4">
                <a:solidFill>
                  <a:srgbClr val="B5C7DC"/>
                </a:solidFill>
                <a:latin typeface="微软雅黑" panose="020B0503020204020204" charset="-122"/>
                <a:ea typeface="微软雅黑" panose="020B0503020204020204" charset="-122"/>
              </a:rPr>
              <a:t>OANM 运维与网络管理平台</a:t>
            </a:r>
            <a:endParaRPr sz="1150" b="0" i="0" spc="4">
              <a:solidFill>
                <a:srgbClr val="B5C7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0" y="6144768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8">
                <a:solidFill>
                  <a:srgbClr val="738BA8"/>
                </a:solidFill>
                <a:latin typeface="Segoe UI" panose="020B0502040204020203"/>
                <a:ea typeface="Segoe UI" panose="020B0502040204020203"/>
              </a:rPr>
              <a:t>内部演示 · 2026.10</a:t>
            </a:r>
            <a:endParaRPr sz="820" b="0" i="0" spc="8">
              <a:solidFill>
                <a:srgbClr val="738BA8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"/>
            <a:ext cx="246888" cy="24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33832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">
                <a:solidFill>
                  <a:srgbClr val="0F172A"/>
                </a:solidFill>
                <a:latin typeface="Segoe UI" panose="020B0502040204020203"/>
                <a:ea typeface="Segoe UI" panose="020B0502040204020203"/>
              </a:rPr>
              <a:t>OANM</a:t>
            </a:r>
            <a:endParaRPr sz="1050" b="1" i="0" spc="12">
              <a:solidFill>
                <a:srgbClr val="0F172A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356616"/>
            <a:ext cx="37673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8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01 / 产品全貌</a:t>
            </a:r>
            <a:endParaRPr sz="820" b="0" i="0" spc="8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722376"/>
            <a:ext cx="10872216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93268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一个平台，串起三段运维现场</a:t>
            </a:r>
            <a:endParaRPr sz="30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6656" y="153619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看全局、提得快、管得住，也能查知识、下软件。</a:t>
            </a:r>
            <a:endParaRPr sz="12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057400"/>
            <a:ext cx="34747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>
            <a:outerShdw blurRad="228600" dist="50800" dir="54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ature-dashboard-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194560"/>
            <a:ext cx="3200400" cy="17977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7824" y="4142231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01</a:t>
            </a:r>
            <a:endParaRPr sz="850" b="1" i="0" spc="12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98448" y="4133087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8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看全局</a:t>
            </a:r>
            <a:endParaRPr sz="850" b="0" i="0" spc="8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7824" y="4370831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概览工作台</a:t>
            </a:r>
            <a:endParaRPr sz="16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7824" y="4727448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指标、趋势、工单状态与团队动态，在一个屏幕里完成判断。</a:t>
            </a:r>
            <a:endParaRPr sz="98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21024" y="5312664"/>
            <a:ext cx="2194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 panose="020B0502040204020203"/>
                <a:ea typeface="Segoe UI" panose="020B0502040204020203"/>
              </a:rPr>
              <a:t>→</a:t>
            </a:r>
            <a:endParaRPr sz="1200" b="0" i="0">
              <a:solidFill>
                <a:srgbClr val="94A3B8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15968" y="2057400"/>
            <a:ext cx="34747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>
            <a:outerShdw blurRad="228600" dist="50800" dir="54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eature-ai-v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194560"/>
            <a:ext cx="3200400" cy="17977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35424" y="4142231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02</a:t>
            </a:r>
            <a:endParaRPr sz="850" b="1" i="0" spc="12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56048" y="4133087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8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提得快</a:t>
            </a:r>
            <a:endParaRPr sz="850" b="0" i="0" spc="8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35424" y="4370831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智能提单</a:t>
            </a:r>
            <a:endParaRPr sz="16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35424" y="4727448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先关心、查知识，能自助再提单。</a:t>
            </a:r>
            <a:endParaRPr sz="98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78624" y="5312664"/>
            <a:ext cx="2194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 panose="020B0502040204020203"/>
                <a:ea typeface="Segoe UI" panose="020B0502040204020203"/>
              </a:rPr>
              <a:t>→</a:t>
            </a:r>
            <a:endParaRPr sz="1200" b="0" i="0">
              <a:solidFill>
                <a:srgbClr val="94A3B8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73568" y="2057400"/>
            <a:ext cx="34747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>
            <a:outerShdw blurRad="228600" dist="50800" dir="54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eature-users-v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728" y="2194560"/>
            <a:ext cx="3200400" cy="179771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93024" y="4142231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03</a:t>
            </a:r>
            <a:endParaRPr sz="850" b="1" i="0" spc="12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13648" y="4133087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8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管得住</a:t>
            </a:r>
            <a:endParaRPr sz="850" b="0" i="0" spc="8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024" y="4370831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工单与权限</a:t>
            </a:r>
            <a:endParaRPr sz="16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93024" y="4727448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状态流转、角色授权和消息通知，沿着同一条链路工作。</a:t>
            </a:r>
            <a:endParaRPr sz="98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936224" y="5312664"/>
            <a:ext cx="2194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 panose="020B0502040204020203"/>
                <a:ea typeface="Segoe UI" panose="020B0502040204020203"/>
              </a:rPr>
              <a:t>→</a:t>
            </a:r>
            <a:endParaRPr sz="1200" b="0" i="0">
              <a:solidFill>
                <a:srgbClr val="94A3B8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148840" y="599846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82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发现</a:t>
            </a:r>
            <a:endParaRPr sz="82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07792" y="602589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7CF6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1100" b="0" i="0">
              <a:solidFill>
                <a:srgbClr val="2F7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447288" y="599846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82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提单</a:t>
            </a:r>
            <a:endParaRPr sz="82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206240" y="602589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7CF6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1100" b="0" i="0">
              <a:solidFill>
                <a:srgbClr val="2F7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745736" y="599846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82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受理</a:t>
            </a:r>
            <a:endParaRPr sz="82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504688" y="602589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7CF6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1100" b="0" i="0">
              <a:solidFill>
                <a:srgbClr val="2F7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044183" y="599846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82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处置</a:t>
            </a:r>
            <a:endParaRPr sz="82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03136" y="602589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7CF6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1100" b="0" i="0">
              <a:solidFill>
                <a:srgbClr val="2F7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342631" y="599846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82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关闭</a:t>
            </a:r>
            <a:endParaRPr sz="82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06640" y="6035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一条完整的服务链路</a:t>
            </a:r>
            <a:endParaRPr sz="82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889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OANM · 运维与网络管理平台</a:t>
            </a:r>
            <a:endParaRPr sz="740" b="0" i="0" spc="4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Segoe UI" panose="020B0502040204020203"/>
                <a:ea typeface="Segoe UI" panose="020B0502040204020203"/>
              </a:rPr>
              <a:t>02 / 16</a:t>
            </a:r>
            <a:endParaRPr sz="740" b="0" i="0" spc="4">
              <a:solidFill>
                <a:srgbClr val="94A3B8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"/>
            <a:ext cx="246888" cy="24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33832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">
                <a:solidFill>
                  <a:srgbClr val="FFFFFF"/>
                </a:solidFill>
                <a:latin typeface="Segoe UI" panose="020B0502040204020203"/>
                <a:ea typeface="Segoe UI" panose="020B0502040204020203"/>
              </a:rPr>
              <a:t>OANM</a:t>
            </a:r>
            <a:endParaRPr sz="1050" b="1" i="0" spc="12">
              <a:solidFill>
                <a:srgbClr val="FFFFFF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356616"/>
            <a:ext cx="37673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8">
                <a:solidFill>
                  <a:srgbClr val="B5C7DC"/>
                </a:solidFill>
                <a:latin typeface="微软雅黑" panose="020B0503020204020204" charset="-122"/>
                <a:ea typeface="微软雅黑" panose="020B0503020204020204" charset="-122"/>
              </a:rPr>
              <a:t>02 / 入口体验</a:t>
            </a:r>
            <a:endParaRPr sz="820" b="0" i="0" spc="8">
              <a:solidFill>
                <a:srgbClr val="B5C7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722376"/>
            <a:ext cx="10872216" cy="0"/>
          </a:xfrm>
          <a:prstGeom prst="line">
            <a:avLst/>
          </a:prstGeom>
          <a:ln w="10160">
            <a:solidFill>
              <a:srgbClr val="2A3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93268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01 / LOGIN EXPERIENCE</a:t>
            </a:r>
            <a:endParaRPr sz="820" b="1" i="0" spc="12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18872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第一眼，就进入状态</a:t>
            </a:r>
            <a:endParaRPr sz="3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656" y="1764792"/>
            <a:ext cx="97840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5C7DC"/>
                </a:solidFill>
                <a:latin typeface="微软雅黑" panose="020B0503020204020204" charset="-122"/>
                <a:ea typeface="微软雅黑" panose="020B0503020204020204" charset="-122"/>
              </a:rPr>
              <a:t>OANM 由实时粒子组成：鼠标靠近时局部散开，移开后自然聚合。深空背景把注意力留给入口本身。</a:t>
            </a:r>
            <a:endParaRPr sz="1150" b="0" i="0">
              <a:solidFill>
                <a:srgbClr val="B5C7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944" y="207568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8">
                <a:solidFill>
                  <a:srgbClr val="738BA8"/>
                </a:solidFill>
                <a:latin typeface="微软雅黑" panose="020B0503020204020204" charset="-122"/>
                <a:ea typeface="微软雅黑" panose="020B0503020204020204" charset="-122"/>
              </a:rPr>
              <a:t>静止状态</a:t>
            </a:r>
            <a:endParaRPr sz="800" b="0" i="0" spc="8">
              <a:solidFill>
                <a:srgbClr val="738B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55664" y="207568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8">
                <a:solidFill>
                  <a:srgbClr val="738BA8"/>
                </a:solidFill>
                <a:latin typeface="微软雅黑" panose="020B0503020204020204" charset="-122"/>
                <a:ea typeface="微软雅黑" panose="020B0503020204020204" charset="-122"/>
              </a:rPr>
              <a:t>鼠标靠近</a:t>
            </a:r>
            <a:endParaRPr sz="800" b="0" i="0" spc="8">
              <a:solidFill>
                <a:srgbClr val="738B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11" descr="login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31720"/>
            <a:ext cx="5440680" cy="3180077"/>
          </a:xfrm>
          <a:prstGeom prst="rect">
            <a:avLst/>
          </a:prstGeom>
        </p:spPr>
      </p:pic>
      <p:pic>
        <p:nvPicPr>
          <p:cNvPr id="13" name="Picture 12" descr="login-hover-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331720"/>
            <a:ext cx="5440680" cy="318007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94944" y="5733288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0D1C31"/>
          </a:solidFill>
          <a:ln w="10160">
            <a:solidFill>
              <a:srgbClr val="223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810" b="0" i="0">
                <a:solidFill>
                  <a:srgbClr val="9EC5FF"/>
                </a:solidFill>
                <a:latin typeface="微软雅黑" panose="020B0503020204020204" charset="-122"/>
                <a:ea typeface="微软雅黑" panose="020B0503020204020204" charset="-122"/>
              </a:rPr>
              <a:t>Canvas 实时粒子</a:t>
            </a:r>
            <a:endParaRPr sz="810" b="0" i="0">
              <a:solidFill>
                <a:srgbClr val="9EC5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127248" y="573328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0D1C31"/>
          </a:solidFill>
          <a:ln w="10160">
            <a:solidFill>
              <a:srgbClr val="223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810" b="0" i="0">
                <a:solidFill>
                  <a:srgbClr val="9EC5FF"/>
                </a:solidFill>
                <a:latin typeface="微软雅黑" panose="020B0503020204020204" charset="-122"/>
                <a:ea typeface="微软雅黑" panose="020B0503020204020204" charset="-122"/>
              </a:rPr>
              <a:t>鼠标斥力</a:t>
            </a:r>
            <a:endParaRPr sz="810" b="0" i="0">
              <a:solidFill>
                <a:srgbClr val="9EC5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99431" y="573328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0D1C31"/>
          </a:solidFill>
          <a:ln w="10160">
            <a:solidFill>
              <a:srgbClr val="223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810" b="0" i="0">
                <a:solidFill>
                  <a:srgbClr val="9EC5FF"/>
                </a:solidFill>
                <a:latin typeface="微软雅黑" panose="020B0503020204020204" charset="-122"/>
                <a:ea typeface="微软雅黑" panose="020B0503020204020204" charset="-122"/>
              </a:rPr>
              <a:t>弹性回归</a:t>
            </a:r>
            <a:endParaRPr sz="810" b="0" i="0">
              <a:solidFill>
                <a:srgbClr val="9EC5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0" y="5769864"/>
            <a:ext cx="4160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>
                <a:solidFill>
                  <a:srgbClr val="738BA8"/>
                </a:solidFill>
                <a:latin typeface="微软雅黑" panose="020B0503020204020204" charset="-122"/>
                <a:ea typeface="微软雅黑" panose="020B0503020204020204" charset="-122"/>
              </a:rPr>
              <a:t>同一个字标，两种交互状态</a:t>
            </a:r>
            <a:endParaRPr sz="820" b="0" i="0">
              <a:solidFill>
                <a:srgbClr val="738B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8890">
            <a:solidFill>
              <a:srgbClr val="2A3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738BA8"/>
                </a:solidFill>
                <a:latin typeface="微软雅黑" panose="020B0503020204020204" charset="-122"/>
                <a:ea typeface="微软雅黑" panose="020B0503020204020204" charset="-122"/>
              </a:rPr>
              <a:t>OANM · 运维与网络管理平台</a:t>
            </a:r>
            <a:endParaRPr sz="740" b="0" i="0" spc="4">
              <a:solidFill>
                <a:srgbClr val="738B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738BA8"/>
                </a:solidFill>
                <a:latin typeface="Segoe UI" panose="020B0502040204020203"/>
                <a:ea typeface="Segoe UI" panose="020B0502040204020203"/>
              </a:rPr>
              <a:t>03 / 16</a:t>
            </a:r>
            <a:endParaRPr sz="740" b="0" i="0" spc="4">
              <a:solidFill>
                <a:srgbClr val="738BA8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"/>
            <a:ext cx="246888" cy="24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33832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">
                <a:solidFill>
                  <a:srgbClr val="0F172A"/>
                </a:solidFill>
                <a:latin typeface="Segoe UI" panose="020B0502040204020203"/>
                <a:ea typeface="Segoe UI" panose="020B0502040204020203"/>
              </a:rPr>
              <a:t>OANM</a:t>
            </a:r>
            <a:endParaRPr sz="1050" b="1" i="0" spc="12">
              <a:solidFill>
                <a:srgbClr val="0F172A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356616"/>
            <a:ext cx="37673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8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03 / 概览工作台</a:t>
            </a:r>
            <a:endParaRPr sz="820" b="0" i="0" spc="8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722376"/>
            <a:ext cx="10872216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94183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02 / OVERVIEW</a:t>
            </a:r>
            <a:endParaRPr sz="820" b="1" i="0" spc="12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207008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今天要做什么，</a:t>
            </a:r>
            <a:endParaRPr sz="28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一屏看清</a:t>
            </a:r>
            <a:endParaRPr sz="28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656" y="2340864"/>
            <a:ext cx="315468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把状态、趋势、待办和入口放在同一张工作台上。先回答现在怎么样，再回答下一步做什么。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01</a:t>
            </a:r>
            <a:endParaRPr sz="800" b="1" i="0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6696" y="3246120"/>
            <a:ext cx="284378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情境化页头：日期、同步状态与当期待办</a:t>
            </a:r>
            <a:endParaRPr sz="98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02</a:t>
            </a:r>
            <a:endParaRPr sz="800" b="1" i="0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6696" y="3776472"/>
            <a:ext cx="284378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四个核心指标：待处理、本周新增、今日完成、未读</a:t>
            </a:r>
            <a:endParaRPr sz="98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4306824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03</a:t>
            </a:r>
            <a:endParaRPr sz="800" b="1" i="0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6696" y="4306824"/>
            <a:ext cx="284378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趋势与分布：7/30 天切换、状态环形图与完成率</a:t>
            </a:r>
            <a:endParaRPr sz="98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4837176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04</a:t>
            </a:r>
            <a:endParaRPr sz="800" b="1" i="0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96696" y="4837176"/>
            <a:ext cx="284378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最近动态与快捷入口：从看见问题到开始处理</a:t>
            </a:r>
            <a:endParaRPr sz="98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685800" y="5559552"/>
            <a:ext cx="0" cy="420624"/>
          </a:xfrm>
          <a:prstGeom prst="line">
            <a:avLst/>
          </a:prstGeom>
          <a:ln w="25400">
            <a:solidFill>
              <a:srgbClr val="2F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32104" y="5550408"/>
            <a:ext cx="305409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首页不是数据仓库，而是每天工作的起点。</a:t>
            </a:r>
            <a:endParaRPr sz="980" b="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Picture 19" descr="dashboard-v3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1097280"/>
            <a:ext cx="7726679" cy="5140979"/>
          </a:xfrm>
          <a:prstGeom prst="rect">
            <a:avLst/>
          </a:prstGeom>
        </p:spPr>
      </p:pic>
      <p:cxnSp>
        <p:nvCxnSpPr>
          <p:cNvPr id="21" name="Connector 20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889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OANM · 运维与网络管理平台</a:t>
            </a:r>
            <a:endParaRPr sz="740" b="0" i="0" spc="4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Segoe UI" panose="020B0502040204020203"/>
                <a:ea typeface="Segoe UI" panose="020B0502040204020203"/>
              </a:rPr>
              <a:t>04 / 16</a:t>
            </a:r>
            <a:endParaRPr sz="740" b="0" i="0" spc="4">
              <a:solidFill>
                <a:srgbClr val="94A3B8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"/>
            <a:ext cx="246888" cy="24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33832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">
                <a:solidFill>
                  <a:srgbClr val="0F172A"/>
                </a:solidFill>
                <a:latin typeface="Segoe UI" panose="020B0502040204020203"/>
                <a:ea typeface="Segoe UI" panose="020B0502040204020203"/>
              </a:rPr>
              <a:t>OANM</a:t>
            </a:r>
            <a:endParaRPr sz="1050" b="1" i="0" spc="12">
              <a:solidFill>
                <a:srgbClr val="0F172A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356616"/>
            <a:ext cx="37673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8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04 / 工单闭环</a:t>
            </a:r>
            <a:endParaRPr sz="820" b="0" i="0" spc="8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722376"/>
            <a:ext cx="10872216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94183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03 / WORK ORDERS</a:t>
            </a:r>
            <a:endParaRPr sz="820" b="1" i="0" spc="12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pic>
        <p:nvPicPr>
          <p:cNvPr id="8" name="Picture 7" descr="workorders-v3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43584"/>
            <a:ext cx="7543800" cy="442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75320" y="1207008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每一个问题，</a:t>
            </a:r>
            <a:endParaRPr sz="27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都有清晰的下一步</a:t>
            </a:r>
            <a:endParaRPr sz="27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93608" y="2359152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把工单从一条记录，变成可以持续推进的协作对象。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302752" y="3268980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3200400"/>
            <a:ext cx="2926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状态与优先级一眼可扫，紧急问题优先浮出</a:t>
            </a:r>
            <a:endParaRPr sz="98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302752" y="3835908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767328"/>
            <a:ext cx="2926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接取、派发、改派、取消按当前权限出现</a:t>
            </a:r>
            <a:endParaRPr sz="98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302752" y="4402836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4334256"/>
            <a:ext cx="2926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详情保留原始描述、AI 会话与处理建议</a:t>
            </a:r>
            <a:endParaRPr sz="98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02752" y="4919472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6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状态流转</a:t>
            </a:r>
            <a:endParaRPr sz="820" b="0" i="0" spc="6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02752" y="5138928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810" b="0" i="0">
                <a:solidFill>
                  <a:srgbClr val="2F7CF6"/>
                </a:solidFill>
                <a:latin typeface="微软雅黑" panose="020B0503020204020204" charset="-122"/>
                <a:ea typeface="微软雅黑" panose="020B0503020204020204" charset="-122"/>
              </a:rPr>
              <a:t>待受理</a:t>
            </a:r>
            <a:endParaRPr sz="810" b="0" i="0">
              <a:solidFill>
                <a:srgbClr val="2F7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784080" y="5138928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810" b="0" i="0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</a:rPr>
              <a:t>已受理</a:t>
            </a:r>
            <a:endParaRPr sz="810" b="0" i="0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302752" y="5522976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810" b="0" i="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已解决</a:t>
            </a:r>
            <a:endParaRPr sz="810" b="0" i="0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784080" y="5522976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81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已关闭</a:t>
            </a:r>
            <a:endParaRPr sz="81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8302752" y="5925312"/>
            <a:ext cx="0" cy="420624"/>
          </a:xfrm>
          <a:prstGeom prst="line">
            <a:avLst/>
          </a:prstGeom>
          <a:ln w="25400">
            <a:solidFill>
              <a:srgbClr val="2F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49056" y="5916168"/>
            <a:ext cx="287121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列表负责发现，详情负责推进。</a:t>
            </a:r>
            <a:endParaRPr sz="980" b="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889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OANM · 运维与网络管理平台</a:t>
            </a:r>
            <a:endParaRPr sz="740" b="0" i="0" spc="4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Segoe UI" panose="020B0502040204020203"/>
                <a:ea typeface="Segoe UI" panose="020B0502040204020203"/>
              </a:rPr>
              <a:t>05 / 16</a:t>
            </a:r>
            <a:endParaRPr sz="740" b="0" i="0" spc="4">
              <a:solidFill>
                <a:srgbClr val="94A3B8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"/>
            <a:ext cx="246888" cy="24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33832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">
                <a:solidFill>
                  <a:srgbClr val="0F172A"/>
                </a:solidFill>
                <a:latin typeface="Segoe UI" panose="020B0502040204020203"/>
                <a:ea typeface="Segoe UI" panose="020B0502040204020203"/>
              </a:rPr>
              <a:t>OANM</a:t>
            </a:r>
            <a:endParaRPr sz="1050" b="1" i="0" spc="12">
              <a:solidFill>
                <a:srgbClr val="0F172A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356616"/>
            <a:ext cx="37673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8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05 / 智能分流</a:t>
            </a:r>
            <a:endParaRPr sz="820" b="0" i="0" spc="8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722376"/>
            <a:ext cx="10872216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94183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04 / EMPATHY &amp; TRIAGE</a:t>
            </a:r>
            <a:endParaRPr sz="820" b="1" i="0" spc="12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207008"/>
            <a:ext cx="3383280" cy="117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先接住情绪，</a:t>
            </a:r>
            <a:endParaRPr sz="27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再开始分流</a:t>
            </a:r>
            <a:endParaRPr sz="27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656" y="2359152"/>
            <a:ext cx="312724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用户只说“打印机坏了”，AI 先回应情绪，再从知识库里整理出几种常见故障，让用户点选或用自己的话补充。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85800" y="3314700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294436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多句气泡：安抚、判断、引导分开说</a:t>
            </a:r>
            <a:endParaRPr sz="95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85800" y="3881628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13048"/>
            <a:ext cx="294436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选项 + 输入框：点选或自由描述都行</a:t>
            </a:r>
            <a:endParaRPr sz="95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5800" y="4448556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79976"/>
            <a:ext cx="294436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多篇知识收敛成一次诊断分流</a:t>
            </a:r>
            <a:endParaRPr sz="95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502920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6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输入方式</a:t>
            </a:r>
            <a:endParaRPr sz="800" b="0" i="0" spc="6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508760" y="498348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4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点选项</a:t>
            </a:r>
            <a:endParaRPr sz="74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350008" y="4983480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40" b="0" i="0">
                <a:solidFill>
                  <a:srgbClr val="2F7CF6"/>
                </a:solidFill>
                <a:latin typeface="微软雅黑" panose="020B0503020204020204" charset="-122"/>
                <a:ea typeface="微软雅黑" panose="020B0503020204020204" charset="-122"/>
              </a:rPr>
              <a:t>自由描述</a:t>
            </a:r>
            <a:endParaRPr sz="740" b="0" i="0">
              <a:solidFill>
                <a:srgbClr val="2F7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76656" y="5669280"/>
            <a:ext cx="0" cy="420624"/>
          </a:xfrm>
          <a:prstGeom prst="line">
            <a:avLst/>
          </a:prstGeom>
          <a:ln w="25400">
            <a:solidFill>
              <a:srgbClr val="2F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5660136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不是先填表，而是先理解现场。</a:t>
            </a:r>
            <a:endParaRPr sz="980" b="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Picture 20" descr="ai-v4-triage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1133856"/>
            <a:ext cx="7635240" cy="4929840"/>
          </a:xfrm>
          <a:prstGeom prst="rect">
            <a:avLst/>
          </a:prstGeom>
        </p:spPr>
      </p:pic>
      <p:cxnSp>
        <p:nvCxnSpPr>
          <p:cNvPr id="22" name="Connector 21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889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OANM · 运维与网络管理平台</a:t>
            </a:r>
            <a:endParaRPr sz="740" b="0" i="0" spc="4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Segoe UI" panose="020B0502040204020203"/>
                <a:ea typeface="Segoe UI" panose="020B0502040204020203"/>
              </a:rPr>
              <a:t>06 / 16</a:t>
            </a:r>
            <a:endParaRPr sz="740" b="0" i="0" spc="4">
              <a:solidFill>
                <a:srgbClr val="94A3B8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"/>
            <a:ext cx="246888" cy="24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33832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">
                <a:solidFill>
                  <a:srgbClr val="0F172A"/>
                </a:solidFill>
                <a:latin typeface="Segoe UI" panose="020B0502040204020203"/>
                <a:ea typeface="Segoe UI" panose="020B0502040204020203"/>
              </a:rPr>
              <a:t>OANM</a:t>
            </a:r>
            <a:endParaRPr sz="1050" b="1" i="0" spc="12">
              <a:solidFill>
                <a:srgbClr val="0F172A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356616"/>
            <a:ext cx="37673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8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06 / 知识优先</a:t>
            </a:r>
            <a:endParaRPr sz="820" b="0" i="0" spc="8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722376"/>
            <a:ext cx="10872216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94183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05 / KNOWLEDGE FIRST</a:t>
            </a:r>
            <a:endParaRPr sz="820" b="1" i="0" spc="12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207008"/>
            <a:ext cx="3383280" cy="117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能自助的，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先给可执行步骤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656" y="2359152"/>
            <a:ext cx="3127248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用户用一句“好像是纸卡里面”回答，AI 识别意图并命中知识库，直接给出断电、取纸和停手的步骤。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85800" y="3314700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294436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自由文本也能识别，不强制点选项</a:t>
            </a:r>
            <a:endParaRPr sz="95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85800" y="3899915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31335"/>
            <a:ext cx="294436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安全提示前置：断电、别硬拽、别碰定影器</a:t>
            </a:r>
            <a:endParaRPr sz="95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5800" y="4485131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16551"/>
            <a:ext cx="294436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两条出口：已经解决 / 帮我提工单</a:t>
            </a:r>
            <a:endParaRPr sz="95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5084064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6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知识命中</a:t>
            </a:r>
            <a:endParaRPr sz="800" b="0" i="0" spc="6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508760" y="503834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40" b="0" i="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知识库</a:t>
            </a:r>
            <a:endParaRPr sz="740" b="0" i="0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441448" y="503834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40" b="0" i="0">
                <a:solidFill>
                  <a:srgbClr val="2F7CF6"/>
                </a:solidFill>
                <a:latin typeface="微软雅黑" panose="020B0503020204020204" charset="-122"/>
                <a:ea typeface="微软雅黑" panose="020B0503020204020204" charset="-122"/>
              </a:rPr>
              <a:t>可自助</a:t>
            </a:r>
            <a:endParaRPr sz="740" b="0" i="0">
              <a:solidFill>
                <a:srgbClr val="2F7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76656" y="5669280"/>
            <a:ext cx="0" cy="420624"/>
          </a:xfrm>
          <a:prstGeom prst="line">
            <a:avLst/>
          </a:prstGeom>
          <a:ln w="25400">
            <a:solidFill>
              <a:srgbClr val="2F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5660136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先让用户把问题解决掉，再决定要不要工单。</a:t>
            </a:r>
            <a:endParaRPr sz="980" b="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Picture 20" descr="ai-v4-knowledge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1133856"/>
            <a:ext cx="7635240" cy="4929840"/>
          </a:xfrm>
          <a:prstGeom prst="rect">
            <a:avLst/>
          </a:prstGeom>
        </p:spPr>
      </p:pic>
      <p:cxnSp>
        <p:nvCxnSpPr>
          <p:cNvPr id="22" name="Connector 21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889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OANM · 运维与网络管理平台</a:t>
            </a:r>
            <a:endParaRPr sz="740" b="0" i="0" spc="4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Segoe UI" panose="020B0502040204020203"/>
                <a:ea typeface="Segoe UI" panose="020B0502040204020203"/>
              </a:rPr>
              <a:t>07 / 16</a:t>
            </a:r>
            <a:endParaRPr sz="740" b="0" i="0" spc="4">
              <a:solidFill>
                <a:srgbClr val="94A3B8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"/>
            <a:ext cx="246888" cy="24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33832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">
                <a:solidFill>
                  <a:srgbClr val="0F172A"/>
                </a:solidFill>
                <a:latin typeface="Segoe UI" panose="020B0502040204020203"/>
                <a:ea typeface="Segoe UI" panose="020B0502040204020203"/>
              </a:rPr>
              <a:t>OANM</a:t>
            </a:r>
            <a:endParaRPr sz="1050" b="1" i="0" spc="12">
              <a:solidFill>
                <a:srgbClr val="0F172A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356616"/>
            <a:ext cx="37673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8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07 / 兜底提单</a:t>
            </a:r>
            <a:endParaRPr sz="820" b="0" i="0" spc="8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722376"/>
            <a:ext cx="10872216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94183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06 / ESCALATE</a:t>
            </a:r>
            <a:endParaRPr sz="820" b="1" i="0" spc="12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207008"/>
            <a:ext cx="3429000" cy="117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解决不了，</a:t>
            </a:r>
            <a:endParaRPr sz="27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再补齐信息</a:t>
            </a:r>
            <a:endParaRPr sz="27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656" y="2359152"/>
            <a:ext cx="3127248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用户选择“还没解决，帮我提工单”，AI 只追问地点和时间；补齐后，给出按置信度排序的候选。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85800" y="3287268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18688"/>
            <a:ext cx="294436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先判断是否真的需要人工，不急着建单</a:t>
            </a:r>
            <a:endParaRPr sz="94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85800" y="3872484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4"/>
            <a:ext cx="294436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槽位补齐：地点、时间一次问清</a:t>
            </a:r>
            <a:endParaRPr sz="94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5800" y="4457700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89120"/>
            <a:ext cx="294436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候选：上门取纸 / 排查原因 / 检测送修 / 备用机</a:t>
            </a:r>
            <a:endParaRPr sz="94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504748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6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用户出口</a:t>
            </a:r>
            <a:endParaRPr sz="800" b="0" i="0" spc="6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508760" y="500176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4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已解决</a:t>
            </a:r>
            <a:endParaRPr sz="74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423160" y="5001768"/>
            <a:ext cx="1060704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40" b="0" i="0">
                <a:solidFill>
                  <a:srgbClr val="2F7CF6"/>
                </a:solidFill>
                <a:latin typeface="微软雅黑" panose="020B0503020204020204" charset="-122"/>
                <a:ea typeface="微软雅黑" panose="020B0503020204020204" charset="-122"/>
              </a:rPr>
              <a:t>帮我提工单</a:t>
            </a:r>
            <a:endParaRPr sz="740" b="0" i="0">
              <a:solidFill>
                <a:srgbClr val="2F7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76656" y="5669280"/>
            <a:ext cx="0" cy="420624"/>
          </a:xfrm>
          <a:prstGeom prst="line">
            <a:avLst/>
          </a:prstGeom>
          <a:ln w="25400">
            <a:solidFill>
              <a:srgbClr val="2F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5660136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能自助就自助，不能自助才落单。</a:t>
            </a:r>
            <a:endParaRPr sz="980" b="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Picture 20" descr="ai-v4-candidates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1133856"/>
            <a:ext cx="7635240" cy="4929840"/>
          </a:xfrm>
          <a:prstGeom prst="rect">
            <a:avLst/>
          </a:prstGeom>
        </p:spPr>
      </p:pic>
      <p:cxnSp>
        <p:nvCxnSpPr>
          <p:cNvPr id="22" name="Connector 21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889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OANM · 运维与网络管理平台</a:t>
            </a:r>
            <a:endParaRPr sz="740" b="0" i="0" spc="4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Segoe UI" panose="020B0502040204020203"/>
                <a:ea typeface="Segoe UI" panose="020B0502040204020203"/>
              </a:rPr>
              <a:t>08 / 16</a:t>
            </a:r>
            <a:endParaRPr sz="740" b="0" i="0" spc="4">
              <a:solidFill>
                <a:srgbClr val="94A3B8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"/>
            <a:ext cx="246888" cy="24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33832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">
                <a:solidFill>
                  <a:srgbClr val="0F172A"/>
                </a:solidFill>
                <a:latin typeface="Segoe UI" panose="020B0502040204020203"/>
                <a:ea typeface="Segoe UI" panose="020B0502040204020203"/>
              </a:rPr>
              <a:t>OANM</a:t>
            </a:r>
            <a:endParaRPr sz="1050" b="1" i="0" spc="12">
              <a:solidFill>
                <a:srgbClr val="0F172A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356616"/>
            <a:ext cx="37673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8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08 / 消息协同</a:t>
            </a:r>
            <a:endParaRPr sz="820" b="0" i="0" spc="8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722376"/>
            <a:ext cx="10872216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94183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07 / NOTIFICATIONS</a:t>
            </a:r>
            <a:endParaRPr sz="820" b="1" i="0" spc="12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pic>
        <p:nvPicPr>
          <p:cNvPr id="8" name="Picture 7" descr="messages-v3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43584"/>
            <a:ext cx="7543800" cy="442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93608" y="1207008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重要的变化，</a:t>
            </a:r>
            <a:endParaRPr sz="27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不会错过</a:t>
            </a:r>
            <a:endParaRPr sz="27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02752" y="2359152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工单的每一次提交、取消和状态变化，都沉淀为可追踪的消息。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302752" y="3287268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321868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新工单与状态变化统一汇总</a:t>
            </a:r>
            <a:endParaRPr sz="98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302752" y="3817620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749039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未读 / 已读筛选，一键全部已读</a:t>
            </a:r>
            <a:endParaRPr sz="98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302752" y="4347972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427939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顶栏、列表与概览保持一致</a:t>
            </a:r>
            <a:endParaRPr sz="98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302752" y="4983480"/>
            <a:ext cx="3017520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509320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未读消息</a:t>
            </a:r>
            <a:endParaRPr sz="8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89136" y="5020056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F172A"/>
                </a:solidFill>
                <a:latin typeface="Segoe UI" panose="020B0502040204020203"/>
                <a:ea typeface="Segoe UI" panose="020B0502040204020203"/>
              </a:rPr>
              <a:t>4</a:t>
            </a:r>
            <a:endParaRPr sz="2100" b="1" i="0">
              <a:solidFill>
                <a:srgbClr val="0F172A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55480" y="510235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待处理通知</a:t>
            </a:r>
            <a:endParaRPr sz="82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67344" y="5422392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F7CF6"/>
                </a:solidFill>
                <a:latin typeface="微软雅黑" panose="020B0503020204020204" charset="-122"/>
                <a:ea typeface="微软雅黑" panose="020B0503020204020204" charset="-122"/>
              </a:rPr>
              <a:t>全部已读 · 消息中心</a:t>
            </a:r>
            <a:endParaRPr sz="840" b="0" i="0">
              <a:solidFill>
                <a:srgbClr val="2F7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8302752" y="6016752"/>
            <a:ext cx="0" cy="420624"/>
          </a:xfrm>
          <a:prstGeom prst="line">
            <a:avLst/>
          </a:prstGeom>
          <a:ln w="25400">
            <a:solidFill>
              <a:srgbClr val="2F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49056" y="6007608"/>
            <a:ext cx="29169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消息不是结果页，而是下一次动作的起点。</a:t>
            </a:r>
            <a:endParaRPr sz="980" b="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889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OANM · 运维与网络管理平台</a:t>
            </a:r>
            <a:endParaRPr sz="740" b="0" i="0" spc="4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Segoe UI" panose="020B0502040204020203"/>
                <a:ea typeface="Segoe UI" panose="020B0502040204020203"/>
              </a:rPr>
              <a:t>09 / 16</a:t>
            </a:r>
            <a:endParaRPr sz="740" b="0" i="0" spc="4">
              <a:solidFill>
                <a:srgbClr val="94A3B8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"/>
            <a:ext cx="246888" cy="24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33832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">
                <a:solidFill>
                  <a:srgbClr val="0F172A"/>
                </a:solidFill>
                <a:latin typeface="Segoe UI" panose="020B0502040204020203"/>
                <a:ea typeface="Segoe UI" panose="020B0502040204020203"/>
              </a:rPr>
              <a:t>OANM</a:t>
            </a:r>
            <a:endParaRPr sz="1050" b="1" i="0" spc="12">
              <a:solidFill>
                <a:srgbClr val="0F172A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356616"/>
            <a:ext cx="37673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8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09 / 软件下载</a:t>
            </a:r>
            <a:endParaRPr sz="820" b="0" i="0" spc="8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722376"/>
            <a:ext cx="10872216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94183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08 / SOFTWARE CATALOG</a:t>
            </a:r>
            <a:endParaRPr sz="820" b="1" i="0" spc="12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207008"/>
            <a:ext cx="324612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常用软件和驱动，</a:t>
            </a:r>
            <a:endParaRPr sz="27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一个入口找齐</a:t>
            </a:r>
            <a:endParaRPr sz="27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656" y="2359152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按分类、平台和关键词筛选，找到后直接下载最新版，或进入详情选择历史版本。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85800" y="3268980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292608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分类 / 平台 / 关键词三层筛选</a:t>
            </a:r>
            <a:endParaRPr sz="9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85800" y="3817620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49039"/>
            <a:ext cx="292608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版本说明、文件名与文件大小清晰可见</a:t>
            </a:r>
            <a:endParaRPr sz="9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5800" y="4366259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97679"/>
            <a:ext cx="292608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下载最新版一步完成，也能回看历史版本</a:t>
            </a:r>
            <a:endParaRPr sz="9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489204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6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覆盖范围</a:t>
            </a:r>
            <a:endParaRPr sz="800" b="0" i="0" spc="6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508760" y="484632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80" b="0" i="0">
                <a:solidFill>
                  <a:srgbClr val="2F7CF6"/>
                </a:solidFill>
                <a:latin typeface="微软雅黑" panose="020B0503020204020204" charset="-122"/>
                <a:ea typeface="微软雅黑" panose="020B0503020204020204" charset="-122"/>
              </a:rPr>
              <a:t>软件</a:t>
            </a:r>
            <a:endParaRPr sz="780" b="0" i="0">
              <a:solidFill>
                <a:srgbClr val="2F7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368296" y="484632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80" b="0" i="0">
                <a:solidFill>
                  <a:srgbClr val="2F7CF6"/>
                </a:solidFill>
                <a:latin typeface="微软雅黑" panose="020B0503020204020204" charset="-122"/>
                <a:ea typeface="微软雅黑" panose="020B0503020204020204" charset="-122"/>
              </a:rPr>
              <a:t>驱动</a:t>
            </a:r>
            <a:endParaRPr sz="780" b="0" i="0">
              <a:solidFill>
                <a:srgbClr val="2F7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227832" y="4846320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80" b="0" i="0">
                <a:solidFill>
                  <a:srgbClr val="2F7CF6"/>
                </a:solidFill>
                <a:latin typeface="微软雅黑" panose="020B0503020204020204" charset="-122"/>
                <a:ea typeface="微软雅黑" panose="020B0503020204020204" charset="-122"/>
              </a:rPr>
              <a:t>办公工具</a:t>
            </a:r>
            <a:endParaRPr sz="780" b="0" i="0">
              <a:solidFill>
                <a:srgbClr val="2F7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676656" y="5440680"/>
            <a:ext cx="0" cy="420624"/>
          </a:xfrm>
          <a:prstGeom prst="line">
            <a:avLst/>
          </a:prstGeom>
          <a:ln w="25400">
            <a:solidFill>
              <a:srgbClr val="2F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5431536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让员工自助取用，把重复的安装请求从工单里拿出去。</a:t>
            </a:r>
            <a:endParaRPr sz="980" b="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Picture 21" descr="software-download-v3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243584"/>
            <a:ext cx="7498079" cy="4398479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889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OANM · 运维与网络管理平台</a:t>
            </a:r>
            <a:endParaRPr sz="740" b="0" i="0" spc="4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Segoe UI" panose="020B0502040204020203"/>
                <a:ea typeface="Segoe UI" panose="020B0502040204020203"/>
              </a:rPr>
              <a:t>10 / 16</a:t>
            </a:r>
            <a:endParaRPr sz="740" b="0" i="0" spc="4">
              <a:solidFill>
                <a:srgbClr val="94A3B8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"/>
            <a:ext cx="246888" cy="24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33832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">
                <a:solidFill>
                  <a:srgbClr val="0F172A"/>
                </a:solidFill>
                <a:latin typeface="Segoe UI" panose="020B0502040204020203"/>
                <a:ea typeface="Segoe UI" panose="020B0502040204020203"/>
              </a:rPr>
              <a:t>OANM</a:t>
            </a:r>
            <a:endParaRPr sz="1050" b="1" i="0" spc="12">
              <a:solidFill>
                <a:srgbClr val="0F172A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356616"/>
            <a:ext cx="37673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8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10 / 软件管理</a:t>
            </a:r>
            <a:endParaRPr sz="820" b="0" i="0" spc="8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722376"/>
            <a:ext cx="10872216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94183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09 / SOFTWARE OPS</a:t>
            </a:r>
            <a:endParaRPr sz="820" b="1" i="0" spc="12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pic>
        <p:nvPicPr>
          <p:cNvPr id="8" name="Picture 7" descr="software-manage-v3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43584"/>
            <a:ext cx="7543800" cy="442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93608" y="1207008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让软件目录，</a:t>
            </a:r>
            <a:endParaRPr sz="27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持续可维护</a:t>
            </a:r>
            <a:endParaRPr sz="27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02752" y="2359152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分类、软件、版本和启停状态，在后台形成一条可维护的供应链。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302752" y="3287268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3218688"/>
            <a:ext cx="292608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分类与软件信息集中维护</a:t>
            </a:r>
            <a:endParaRPr sz="9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302752" y="3835908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767328"/>
            <a:ext cx="292608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版本文件、平台与更新说明按需管理</a:t>
            </a:r>
            <a:endParaRPr sz="9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302752" y="4384548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4315968"/>
            <a:ext cx="292608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启停控制可见范围，下载计数反馈使用情况</a:t>
            </a:r>
            <a:endParaRPr sz="9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02752" y="4983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6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管理对象</a:t>
            </a:r>
            <a:endParaRPr sz="800" b="0" i="0" spc="6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02752" y="521208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分类</a:t>
            </a:r>
            <a:endParaRPr sz="7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25712" y="521208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软件</a:t>
            </a:r>
            <a:endParaRPr sz="7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948672" y="521208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版本</a:t>
            </a:r>
            <a:endParaRPr sz="7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8302752" y="5788152"/>
            <a:ext cx="0" cy="420624"/>
          </a:xfrm>
          <a:prstGeom prst="line">
            <a:avLst/>
          </a:prstGeom>
          <a:ln w="25400">
            <a:solidFill>
              <a:srgbClr val="2F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49056" y="5779008"/>
            <a:ext cx="29169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下载页面对使用者，管理页面对维护者。</a:t>
            </a:r>
            <a:endParaRPr sz="980" b="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889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OANM · 运维与网络管理平台</a:t>
            </a:r>
            <a:endParaRPr sz="740" b="0" i="0" spc="4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Segoe UI" panose="020B0502040204020203"/>
                <a:ea typeface="Segoe UI" panose="020B0502040204020203"/>
              </a:rPr>
              <a:t>11 / 16</a:t>
            </a:r>
            <a:endParaRPr sz="740" b="0" i="0" spc="4">
              <a:solidFill>
                <a:srgbClr val="94A3B8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"/>
            <a:ext cx="246888" cy="24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33832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">
                <a:solidFill>
                  <a:srgbClr val="0F172A"/>
                </a:solidFill>
                <a:latin typeface="Segoe UI" panose="020B0502040204020203"/>
                <a:ea typeface="Segoe UI" panose="020B0502040204020203"/>
              </a:rPr>
              <a:t>OANM</a:t>
            </a:r>
            <a:endParaRPr sz="1050" b="1" i="0" spc="12">
              <a:solidFill>
                <a:srgbClr val="0F172A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356616"/>
            <a:ext cx="37673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8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11 / 知识库</a:t>
            </a:r>
            <a:endParaRPr sz="820" b="0" i="0" spc="8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722376"/>
            <a:ext cx="10872216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94183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10 / KNOWLEDGE LIBRARY</a:t>
            </a:r>
            <a:endParaRPr sz="820" b="1" i="0" spc="12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207008"/>
            <a:ext cx="3346704" cy="117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把现场经验，</a:t>
            </a:r>
            <a:endParaRPr sz="27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摆上书架</a:t>
            </a:r>
            <a:endParaRPr sz="27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656" y="2359152"/>
            <a:ext cx="3127248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语义检索</a:t>
            </a:r>
            <a:r>
              <a:rPr lang="zh-CN"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会理解关键字意思</a:t>
            </a: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帮你找到相关内容。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85800" y="3451860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294436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封面只留分类、标题与更新时间，先挑书再读内容</a:t>
            </a:r>
            <a:endParaRPr sz="95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85800" y="4091940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294436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分类筛选、关键词搜索、最近更新排序</a:t>
            </a:r>
            <a:r>
              <a:rPr lang="zh-CN" sz="95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，协助查找</a:t>
            </a:r>
            <a:r>
              <a:rPr lang="zh-CN" sz="95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文章</a:t>
            </a:r>
            <a:endParaRPr lang="zh-CN" sz="95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5800" y="4732020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294436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翻开封面先看摘要与标签，再决定读不读全文</a:t>
            </a:r>
            <a:endParaRPr sz="95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76656" y="5742432"/>
            <a:ext cx="0" cy="420624"/>
          </a:xfrm>
          <a:prstGeom prst="line">
            <a:avLst/>
          </a:prstGeom>
          <a:ln w="25400">
            <a:solidFill>
              <a:srgbClr val="2F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5733288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书架负责归类，检索负责</a:t>
            </a:r>
            <a:r>
              <a:rPr lang="zh-CN" sz="980" b="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快速</a:t>
            </a:r>
            <a:r>
              <a:rPr sz="980" b="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找内容。</a:t>
            </a:r>
            <a:endParaRPr sz="980" b="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Picture 17" descr="knowledge-v3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97280"/>
            <a:ext cx="7040880" cy="5003460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889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OANM · 运维与网络管理平台</a:t>
            </a:r>
            <a:endParaRPr sz="740" b="0" i="0" spc="4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Segoe UI" panose="020B0502040204020203"/>
                <a:ea typeface="Segoe UI" panose="020B0502040204020203"/>
              </a:rPr>
              <a:t>12 / 16</a:t>
            </a:r>
            <a:endParaRPr sz="740" b="0" i="0" spc="4">
              <a:solidFill>
                <a:srgbClr val="94A3B8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"/>
            <a:ext cx="246888" cy="24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33832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">
                <a:solidFill>
                  <a:srgbClr val="0F172A"/>
                </a:solidFill>
                <a:latin typeface="Segoe UI" panose="020B0502040204020203"/>
                <a:ea typeface="Segoe UI" panose="020B0502040204020203"/>
              </a:rPr>
              <a:t>OANM</a:t>
            </a:r>
            <a:endParaRPr sz="1050" b="1" i="0" spc="12">
              <a:solidFill>
                <a:srgbClr val="0F172A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356616"/>
            <a:ext cx="37673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8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12 / 知识预览</a:t>
            </a:r>
            <a:endParaRPr sz="820" b="0" i="0" spc="8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722376"/>
            <a:ext cx="10872216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94183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11 / KNOWLEDGE READER</a:t>
            </a:r>
            <a:endParaRPr sz="820" b="1" i="0" spc="12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pic>
        <p:nvPicPr>
          <p:cNvPr id="8" name="Picture 7" descr="knowledge-detail-v3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43584"/>
            <a:ext cx="7543800" cy="442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75320" y="1207008"/>
            <a:ext cx="3200400" cy="117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从一本书，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到一条可执行的知识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93608" y="239572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点击封面打开预览：分类、更新时间、浏览数、摘要与标签集中在一处。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302752" y="3378708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3310128"/>
            <a:ext cx="2926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抬头先给分类、时间和浏览数</a:t>
            </a:r>
            <a:endParaRPr sz="9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302752" y="3945636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877056"/>
            <a:ext cx="2926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摘要先给结论，标签补充语境</a:t>
            </a:r>
            <a:endParaRPr sz="9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302752" y="4512564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4443984"/>
            <a:ext cx="2926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阅读全文保留完整正文与参考来源</a:t>
            </a:r>
            <a:endParaRPr sz="9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02752" y="502920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6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文章标签</a:t>
            </a:r>
            <a:endParaRPr sz="800" b="0" i="0" spc="6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02752" y="525780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4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办公终端</a:t>
            </a:r>
            <a:endParaRPr sz="74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80576" y="525780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40" b="0" i="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最近更新</a:t>
            </a:r>
            <a:endParaRPr sz="740" b="0" i="0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302752" y="5870448"/>
            <a:ext cx="0" cy="420624"/>
          </a:xfrm>
          <a:prstGeom prst="line">
            <a:avLst/>
          </a:prstGeom>
          <a:ln w="25400">
            <a:solidFill>
              <a:srgbClr val="2F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49056" y="5861304"/>
            <a:ext cx="29169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知识库的价值，在问题发生的那一刻被调用。</a:t>
            </a:r>
            <a:endParaRPr sz="980" b="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889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OANM · 运维与网络管理平台</a:t>
            </a:r>
            <a:endParaRPr sz="740" b="0" i="0" spc="4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Segoe UI" panose="020B0502040204020203"/>
                <a:ea typeface="Segoe UI" panose="020B0502040204020203"/>
              </a:rPr>
              <a:t>13 / 16</a:t>
            </a:r>
            <a:endParaRPr sz="740" b="0" i="0" spc="4">
              <a:solidFill>
                <a:srgbClr val="94A3B8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"/>
            <a:ext cx="246888" cy="24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33832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">
                <a:solidFill>
                  <a:srgbClr val="0F172A"/>
                </a:solidFill>
                <a:latin typeface="Segoe UI" panose="020B0502040204020203"/>
                <a:ea typeface="Segoe UI" panose="020B0502040204020203"/>
              </a:rPr>
              <a:t>OANM</a:t>
            </a:r>
            <a:endParaRPr sz="1050" b="1" i="0" spc="12">
              <a:solidFill>
                <a:srgbClr val="0F172A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356616"/>
            <a:ext cx="37673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8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13 / 权限治理</a:t>
            </a:r>
            <a:endParaRPr sz="820" b="0" i="0" spc="8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722376"/>
            <a:ext cx="10872216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94183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12 / ACCESS CONTROL</a:t>
            </a:r>
            <a:endParaRPr sz="820" b="1" i="0" spc="12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207008"/>
            <a:ext cx="324612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让正确的人，</a:t>
            </a:r>
            <a:endParaRPr sz="27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看到正确的入口</a:t>
            </a:r>
            <a:endParaRPr sz="27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656" y="2359152"/>
            <a:ext cx="310896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把用户、角色、权限、菜单和路由放在同一套治理模型里。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6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授权链路</a:t>
            </a:r>
            <a:endParaRPr sz="800" b="0" i="0" spc="6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327355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用户</a:t>
            </a:r>
            <a:endParaRPr sz="7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44168" y="3296412"/>
            <a:ext cx="914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7CF6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1000" b="0" i="0">
              <a:solidFill>
                <a:srgbClr val="2F7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435607" y="327355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角色</a:t>
            </a:r>
            <a:endParaRPr sz="7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93976" y="3296412"/>
            <a:ext cx="914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7CF6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1000" b="0" i="0">
              <a:solidFill>
                <a:srgbClr val="2F7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185415" y="327355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权限</a:t>
            </a:r>
            <a:endParaRPr sz="7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43783" y="3296412"/>
            <a:ext cx="914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7CF6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1000" b="0" i="0">
              <a:solidFill>
                <a:srgbClr val="2F7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935224" y="327355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E7E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7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菜单 / 路由</a:t>
            </a:r>
            <a:endParaRPr sz="7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6656" y="3694176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用户与角色集中管理；菜单按权限下发；无角色、无权限时也有明确的空状态。</a:t>
            </a:r>
            <a:endParaRPr sz="98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5800" y="4549140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805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用户、角色、权限集中管理</a:t>
            </a:r>
            <a:endParaRPr sz="9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85800" y="4969764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90118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菜单与路由按授权范围下发</a:t>
            </a:r>
            <a:endParaRPr sz="9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85800" y="5390388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2180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前端不重复判权，避免两套真相</a:t>
            </a:r>
            <a:endParaRPr sz="96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676656" y="5824728"/>
            <a:ext cx="0" cy="420624"/>
          </a:xfrm>
          <a:prstGeom prst="line">
            <a:avLst/>
          </a:prstGeom>
          <a:ln w="25400">
            <a:solidFill>
              <a:srgbClr val="2F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5815584"/>
            <a:ext cx="296265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权限不是按钮，是产品的秩序。</a:t>
            </a:r>
            <a:endParaRPr sz="980" b="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Picture 26" descr="users-v3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243584"/>
            <a:ext cx="7498079" cy="4398479"/>
          </a:xfrm>
          <a:prstGeom prst="rect">
            <a:avLst/>
          </a:prstGeom>
        </p:spPr>
      </p:pic>
      <p:cxnSp>
        <p:nvCxnSpPr>
          <p:cNvPr id="28" name="Connector 27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889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OANM · 运维与网络管理平台</a:t>
            </a:r>
            <a:endParaRPr sz="740" b="0" i="0" spc="4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Segoe UI" panose="020B0502040204020203"/>
                <a:ea typeface="Segoe UI" panose="020B0502040204020203"/>
              </a:rPr>
              <a:t>14 / 16</a:t>
            </a:r>
            <a:endParaRPr sz="740" b="0" i="0" spc="4">
              <a:solidFill>
                <a:srgbClr val="94A3B8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472"/>
            <a:ext cx="246888" cy="24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33832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">
                <a:solidFill>
                  <a:srgbClr val="0F172A"/>
                </a:solidFill>
                <a:latin typeface="Segoe UI" panose="020B0502040204020203"/>
                <a:ea typeface="Segoe UI" panose="020B0502040204020203"/>
              </a:rPr>
              <a:t>OANM</a:t>
            </a:r>
            <a:endParaRPr sz="1050" b="1" i="0" spc="12">
              <a:solidFill>
                <a:srgbClr val="0F172A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356616"/>
            <a:ext cx="37673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 spc="8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14 / 多端体验</a:t>
            </a:r>
            <a:endParaRPr sz="820" b="0" i="0" spc="8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722376"/>
            <a:ext cx="10872216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94183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">
                <a:solidFill>
                  <a:srgbClr val="2F7CF6"/>
                </a:solidFill>
                <a:latin typeface="Segoe UI" panose="020B0502040204020203"/>
                <a:ea typeface="Segoe UI" panose="020B0502040204020203"/>
              </a:rPr>
              <a:t>13 / RESPONSIVE</a:t>
            </a:r>
            <a:endParaRPr sz="820" b="1" i="0" spc="12">
              <a:solidFill>
                <a:srgbClr val="2F7CF6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207008"/>
            <a:ext cx="484632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同一套工作流，</a:t>
            </a:r>
            <a:endParaRPr sz="28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在不同屏幕上成立</a:t>
            </a:r>
            <a:endParaRPr sz="2800" b="1" i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656" y="2359152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登录页重排为字标与表单的双层结构；工作台收起侧栏，把指标和动作留给内容区。</a:t>
            </a:r>
            <a:endParaRPr sz="10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85800" y="3323844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55264"/>
            <a:ext cx="4023359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窄屏登录：字标在前，表单在后</a:t>
            </a:r>
            <a:endParaRPr sz="100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85800" y="3781044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12464"/>
            <a:ext cx="4023359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移动概览：指标单列，优先保留关键数字</a:t>
            </a:r>
            <a:endParaRPr sz="100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5800" y="4238244"/>
            <a:ext cx="68580" cy="68580"/>
          </a:xfrm>
          <a:prstGeom prst="ellipse">
            <a:avLst/>
          </a:prstGeom>
          <a:solidFill>
            <a:srgbClr val="2F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69664"/>
            <a:ext cx="4023359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导航收起：内容区不再被侧栏挤压</a:t>
            </a:r>
            <a:endParaRPr sz="1000" b="0" i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76656" y="5166360"/>
            <a:ext cx="0" cy="420624"/>
          </a:xfrm>
          <a:prstGeom prst="line">
            <a:avLst/>
          </a:prstGeom>
          <a:ln w="25400">
            <a:solidFill>
              <a:srgbClr val="2F7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5157216"/>
            <a:ext cx="415137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不是把桌面缩小，而是重新排优先级。</a:t>
            </a:r>
            <a:endParaRPr sz="980" b="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Picture 17" descr="phone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143000"/>
            <a:ext cx="2331720" cy="4373164"/>
          </a:xfrm>
          <a:prstGeom prst="rect">
            <a:avLst/>
          </a:prstGeom>
        </p:spPr>
      </p:pic>
      <p:pic>
        <p:nvPicPr>
          <p:cNvPr id="19" name="Picture 18" descr="phone-dashboard-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143000"/>
            <a:ext cx="2331720" cy="43731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92240" y="57790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登录 / 移动端</a:t>
            </a:r>
            <a:endParaRPr sz="82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0" y="57790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概览 / 移动端</a:t>
            </a:r>
            <a:endParaRPr sz="82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889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OANM · 运维与网络管理平台</a:t>
            </a:r>
            <a:endParaRPr sz="740" b="0" i="0" spc="4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 spc="4">
                <a:solidFill>
                  <a:srgbClr val="94A3B8"/>
                </a:solidFill>
                <a:latin typeface="Segoe UI" panose="020B0502040204020203"/>
                <a:ea typeface="Segoe UI" panose="020B0502040204020203"/>
              </a:rPr>
              <a:t>15 / 16</a:t>
            </a:r>
            <a:endParaRPr sz="740" b="0" i="0" spc="4">
              <a:solidFill>
                <a:srgbClr val="94A3B8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-clos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8912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" y="42976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8">
                <a:solidFill>
                  <a:srgbClr val="FFFFFF"/>
                </a:solidFill>
                <a:latin typeface="Segoe UI" panose="020B0502040204020203"/>
                <a:ea typeface="Segoe UI" panose="020B0502040204020203"/>
              </a:rPr>
              <a:t>OANM</a:t>
            </a:r>
            <a:endParaRPr sz="1100" b="1" i="0" spc="18">
              <a:solidFill>
                <a:srgbClr val="FFFFFF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944" y="178308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spc="12">
                <a:solidFill>
                  <a:srgbClr val="9EC5FF"/>
                </a:solidFill>
                <a:latin typeface="Segoe UI" panose="020B0502040204020203"/>
                <a:ea typeface="Segoe UI" panose="020B0502040204020203"/>
              </a:rPr>
              <a:t>END / THANK YOU</a:t>
            </a:r>
            <a:endParaRPr sz="820" b="1" i="0" spc="12">
              <a:solidFill>
                <a:srgbClr val="9EC5FF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2084831"/>
            <a:ext cx="76809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清晰，是运维效率的一部分。</a:t>
            </a:r>
            <a:endParaRPr sz="3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2999232"/>
            <a:ext cx="62179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5C7DC"/>
                </a:solidFill>
                <a:latin typeface="微软雅黑" panose="020B0503020204020204" charset="-122"/>
                <a:ea typeface="微软雅黑" panose="020B0503020204020204" charset="-122"/>
              </a:rPr>
              <a:t>OANM 把每天的运维现场，收进一套更清晰的工作流。</a:t>
            </a:r>
            <a:endParaRPr sz="1250" b="0" i="0">
              <a:solidFill>
                <a:srgbClr val="B5C7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4944" y="39319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C1B2F"/>
          </a:solidFill>
          <a:ln w="10160">
            <a:solidFill>
              <a:srgbClr val="223B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850" b="0" i="0">
                <a:solidFill>
                  <a:srgbClr val="9EC5FF"/>
                </a:solidFill>
                <a:latin typeface="微软雅黑" panose="020B0503020204020204" charset="-122"/>
                <a:ea typeface="微软雅黑" panose="020B0503020204020204" charset="-122"/>
              </a:rPr>
              <a:t>看得清</a:t>
            </a:r>
            <a:endParaRPr sz="850" b="0" i="0">
              <a:solidFill>
                <a:srgbClr val="9EC5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276856" y="39319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C1B2F"/>
          </a:solidFill>
          <a:ln w="10160">
            <a:solidFill>
              <a:srgbClr val="223B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850" b="0" i="0">
                <a:solidFill>
                  <a:srgbClr val="9EC5FF"/>
                </a:solidFill>
                <a:latin typeface="微软雅黑" panose="020B0503020204020204" charset="-122"/>
                <a:ea typeface="微软雅黑" panose="020B0503020204020204" charset="-122"/>
              </a:rPr>
              <a:t>提得快</a:t>
            </a:r>
            <a:endParaRPr sz="850" b="0" i="0">
              <a:solidFill>
                <a:srgbClr val="9EC5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858768" y="39319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C1B2F"/>
          </a:solidFill>
          <a:ln w="10160">
            <a:solidFill>
              <a:srgbClr val="223B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850" b="0" i="0">
                <a:solidFill>
                  <a:srgbClr val="9EC5FF"/>
                </a:solidFill>
                <a:latin typeface="微软雅黑" panose="020B0503020204020204" charset="-122"/>
                <a:ea typeface="微软雅黑" panose="020B0503020204020204" charset="-122"/>
              </a:rPr>
              <a:t>管得住</a:t>
            </a:r>
            <a:endParaRPr sz="850" b="0" i="0">
              <a:solidFill>
                <a:srgbClr val="9EC5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94944" y="4956048"/>
            <a:ext cx="5705856" cy="0"/>
          </a:xfrm>
          <a:prstGeom prst="line">
            <a:avLst/>
          </a:prstGeom>
          <a:ln w="10160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4944" y="5120640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谢谢观看 · 欢迎讨论</a:t>
            </a:r>
            <a:endParaRPr sz="1050" b="0" i="0" spc="4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4944" y="6245352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 spc="6">
                <a:solidFill>
                  <a:srgbClr val="738BA8"/>
                </a:solidFill>
                <a:latin typeface="微软雅黑" panose="020B0503020204020204" charset="-122"/>
                <a:ea typeface="微软雅黑" panose="020B0503020204020204" charset="-122"/>
              </a:rPr>
              <a:t>OANM 运维与网络管理平台</a:t>
            </a:r>
            <a:endParaRPr sz="780" b="0" i="0" spc="6">
              <a:solidFill>
                <a:srgbClr val="738B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2734</Words>
  <Application>WPS 演示</Application>
  <PresentationFormat>On-screen Show (4:3)</PresentationFormat>
  <Paragraphs>482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Arial</vt:lpstr>
      <vt:lpstr>Segoe UI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OANM 运维与网络管理平台 · 产品演示</dc:title>
  <dc:creator>OANM</dc:creator>
  <dc:description>generated using python-pptx</dc:description>
  <dc:subject>OANM 产品演示</dc:subject>
  <cp:lastModifiedBy>付高宏</cp:lastModifiedBy>
  <cp:revision>2</cp:revision>
  <dcterms:created xsi:type="dcterms:W3CDTF">2013-01-27T09:14:00Z</dcterms:created>
  <dcterms:modified xsi:type="dcterms:W3CDTF">2026-10-28T14:50:04Z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12052754C5B94C2398AC3B2BBAEF8AEB_12</vt:lpwstr>
  </property>
  <property fmtid="{D5CDD505-2E9C-101B-9397-08002B2CF9AE}" pid="3" name="KSOProductBuildVer">
    <vt:lpwstr>2052-12.1.0.29161</vt:lpwstr>
  </property>
</Properties>
</file>